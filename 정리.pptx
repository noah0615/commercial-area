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041" r:id="rId2"/>
    <p:sldId id="1042" r:id="rId3"/>
    <p:sldId id="104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C2229-E37B-43DE-B96F-5AA66D642C93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838A7-BD39-49E2-A3C4-653466BEA0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69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14E9-482C-431E-EECD-B01936EC7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E90089-C962-7EA0-B212-98260F4F1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12EFCE-6522-4BF9-3AB6-9804A0DF9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8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5FF44A-DCB7-4E0F-9CFB-4FDEB2723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D4D96-940C-4183-92F1-CDDC2839BE9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62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1DC6-E9AB-8EFB-C3A3-34A09AAA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47D597-EB06-647B-9E78-B47D9ACB5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F07ACE-5EF5-7997-BCB6-22CE761C7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8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92133D-952A-1608-C8C4-7038A1895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D4D96-940C-4183-92F1-CDDC2839BE9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543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7922-F9E2-AFB7-1A9C-39798BBB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7E7F45-332B-CDEF-3E2F-35E574F7F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E2A3E6-9F33-E49A-9BEE-3DAE44717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8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8E4FD-6360-EE12-3FDB-289B5040D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D4D96-940C-4183-92F1-CDDC2839BE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072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BED7-465D-E579-CDB6-26D575F43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B95ED-6E2D-C118-0996-5C19DC6E2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8288A-0D49-F113-D94A-68B5C62F7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4E476-5773-A7D3-6DF9-4B3B13E2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D9438-44B2-8BC6-8AF6-403F29BD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8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60FE-1ECB-B81E-D547-E2DFCB87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A6A4F-DB78-F2BD-F859-995C66449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21C0D-3D04-9A3B-EE05-29AF57DC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2A8F4-6EB6-812B-849C-7DF8F3FF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0EF7-8E8A-55B2-BFF4-4B897F9D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30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1232F-B35B-EBD7-362F-9545EE04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88F57-45C0-5435-887E-4407777DB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C3682-AA25-6C6E-75DB-E506D137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50E9F-96CB-02A5-E064-69F59255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54E87-E2E7-F323-3D84-4BF015DE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25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7EE9-EA4C-9799-64F8-867C58AD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E8511-B9DF-6865-E0C8-3A417EC90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E42A7B-1C59-DDDB-5F67-FF81E0DCD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7D30D-FAAC-74C9-E116-8C363B81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D691D-261E-BAA6-3F2B-DB38B5295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AD02C-68BB-E6B7-0CF7-046DB686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88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1E3A-E3B4-076E-EAD0-4F3484B56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6F163-379C-1AD6-D5B0-508DC2F63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3BCA5-8E1B-C504-7DBF-BF4CD1698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77F57A-25E4-16CC-77A8-2A71A5CAC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AFE000-47AD-16C4-4B71-09BFC69C5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264B15-AB9A-6061-0BB8-0E6F6E75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17D59-659B-B3B5-CE75-EC216ED4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CFA82-648D-23E1-F409-DDD72625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64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A22B-0FC7-37EB-7019-A41B72B01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EF3DB-3CC0-CD2C-FCD9-8CDE4CEF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9960AA-9AE9-629F-C857-92FF449B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611C3-5D8D-B880-3B21-7009D969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43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C4C66-C39A-0EC1-B78A-5A613366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55665-1A4C-6BCE-0862-E3F49A494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3D433-CE62-D2BA-DE52-CDFCAEC0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99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16AF-16AD-2E2E-A0EA-725DF15E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2D896-8970-4DAD-15C7-9704E25EA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5FD2F-3BD4-8EDB-FBBE-98CAA1BF9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6EADD-81AA-1B6B-F1DA-72CE7DEA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E172C-2A5C-E274-40D2-3D2C8985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AEE8C-BA1A-CA6F-E941-E74BFCF1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52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6B2E-4C95-AC07-5BA1-6D6A4C29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6DF26C-58BB-6CAA-FE43-C7760526B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EFD82-E461-14E2-9303-85190B72E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C387C-94F2-F16A-8079-E45D0644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3CC0F-E5B6-87E9-4418-02B060168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46E8E-D5DB-DF9F-332B-48A5421A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95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0331-5F0A-D222-F3BB-0CC967A5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5DDB6-16D0-AD5C-666D-D5C46832B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679DB-7278-BBE2-DCFD-E72AB0882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68BAF-4213-E47E-0798-E4AD3AD0B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609EB-7C6D-A473-BE66-1A8AE6FB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99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4B2DF-F877-FA42-C1C0-C064FBE6E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5BF3F-4D83-802D-EE8F-160213624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6DBE-DFDA-E636-BDCF-E7212EAB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DC7F9-0C71-6494-896F-8F3DDA482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EEEE4-7B11-875F-3DC0-11166FFD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001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11760629" y="6606877"/>
            <a:ext cx="431371" cy="194616"/>
          </a:xfrm>
          <a:prstGeom prst="rect">
            <a:avLst/>
          </a:prstGeom>
          <a:solidFill>
            <a:srgbClr val="20A15E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lIns="0" tIns="0" rIns="0" bIns="0" anchor="ctr" anchorCtr="1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100" b="0" baseline="0" smtClean="0">
                <a:solidFill>
                  <a:schemeClr val="bg1"/>
                </a:solidFill>
                <a:latin typeface="Candara" panose="020E0502030303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EA1E582-E1CC-4474-812F-1657BC5920B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05DB11-9E8D-4861-8DF2-ADEACCA464F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4921" y="899333"/>
            <a:ext cx="11255708" cy="569038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 b="1" baseline="0">
                <a:ln w="9525">
                  <a:noFill/>
                </a:ln>
                <a:solidFill>
                  <a:srgbClr val="CC66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1" baseline="0">
                <a:solidFill>
                  <a:srgbClr val="7030A0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2pPr>
            <a:lvl3pPr>
              <a:lnSpc>
                <a:spcPct val="100000"/>
              </a:lnSpc>
              <a:defRPr b="1" baseline="0">
                <a:solidFill>
                  <a:schemeClr val="accent2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3pPr>
            <a:lvl4pPr>
              <a:lnSpc>
                <a:spcPct val="100000"/>
              </a:lnSpc>
              <a:defRPr baseline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4pPr>
            <a:lvl5pPr>
              <a:lnSpc>
                <a:spcPct val="100000"/>
              </a:lnSpc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0364B6-9BD8-3149-74BA-DEDAA660E38A}"/>
              </a:ext>
            </a:extLst>
          </p:cNvPr>
          <p:cNvSpPr/>
          <p:nvPr userDrawn="1"/>
        </p:nvSpPr>
        <p:spPr>
          <a:xfrm>
            <a:off x="0" y="6799588"/>
            <a:ext cx="12192000" cy="66032"/>
          </a:xfrm>
          <a:prstGeom prst="rect">
            <a:avLst/>
          </a:prstGeom>
          <a:solidFill>
            <a:srgbClr val="20A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22B8667-A54A-896D-5615-C32A0D54A708}"/>
              </a:ext>
            </a:extLst>
          </p:cNvPr>
          <p:cNvGrpSpPr/>
          <p:nvPr userDrawn="1"/>
        </p:nvGrpSpPr>
        <p:grpSpPr>
          <a:xfrm>
            <a:off x="360386" y="789432"/>
            <a:ext cx="11471228" cy="66127"/>
            <a:chOff x="360386" y="789432"/>
            <a:chExt cx="11471228" cy="66127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FA09E07-52A1-56B8-0A9D-502491170A26}"/>
                </a:ext>
              </a:extLst>
            </p:cNvPr>
            <p:cNvSpPr/>
            <p:nvPr userDrawn="1"/>
          </p:nvSpPr>
          <p:spPr>
            <a:xfrm>
              <a:off x="360387" y="813924"/>
              <a:ext cx="11471227" cy="17142"/>
            </a:xfrm>
            <a:prstGeom prst="roundRect">
              <a:avLst>
                <a:gd name="adj" fmla="val 50000"/>
              </a:avLst>
            </a:prstGeom>
            <a:solidFill>
              <a:srgbClr val="B1C3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F0A07FC-A9AC-D3A1-163D-A66C6EBF7103}"/>
                </a:ext>
              </a:extLst>
            </p:cNvPr>
            <p:cNvSpPr/>
            <p:nvPr userDrawn="1"/>
          </p:nvSpPr>
          <p:spPr>
            <a:xfrm>
              <a:off x="360386" y="789432"/>
              <a:ext cx="795454" cy="6612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24168"/>
                </a:gs>
                <a:gs pos="100000">
                  <a:srgbClr val="1B629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>
                <a:solidFill>
                  <a:srgbClr val="144772"/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3346F45-1AE4-5379-EF3A-580D22A60CD1}"/>
                </a:ext>
              </a:extLst>
            </p:cNvPr>
            <p:cNvSpPr/>
            <p:nvPr userDrawn="1"/>
          </p:nvSpPr>
          <p:spPr>
            <a:xfrm>
              <a:off x="360386" y="789432"/>
              <a:ext cx="190425" cy="66127"/>
            </a:xfrm>
            <a:prstGeom prst="roundRect">
              <a:avLst>
                <a:gd name="adj" fmla="val 50000"/>
              </a:avLst>
            </a:prstGeom>
            <a:solidFill>
              <a:srgbClr val="0ABE86"/>
            </a:solidFill>
            <a:ln>
              <a:noFill/>
            </a:ln>
            <a:effectLst>
              <a:outerShdw blurRad="50800" dist="38100" dir="2700000" algn="tl" rotWithShape="0">
                <a:srgbClr val="00A85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8C04EEF5-C918-8A07-E998-DCA2AE451E01}"/>
              </a:ext>
            </a:extLst>
          </p:cNvPr>
          <p:cNvGrpSpPr/>
          <p:nvPr userDrawn="1"/>
        </p:nvGrpSpPr>
        <p:grpSpPr>
          <a:xfrm>
            <a:off x="11094567" y="276603"/>
            <a:ext cx="744142" cy="61517"/>
            <a:chOff x="353294" y="129644"/>
            <a:chExt cx="744142" cy="61517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0405CDD-EA5A-B24C-F35D-A8D22D7B616B}"/>
                </a:ext>
              </a:extLst>
            </p:cNvPr>
            <p:cNvSpPr/>
            <p:nvPr userDrawn="1"/>
          </p:nvSpPr>
          <p:spPr>
            <a:xfrm>
              <a:off x="353294" y="129644"/>
              <a:ext cx="61517" cy="61517"/>
            </a:xfrm>
            <a:prstGeom prst="ellipse">
              <a:avLst/>
            </a:prstGeom>
            <a:solidFill>
              <a:srgbClr val="B1C3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0F00F18-E1C1-05F5-E140-F841D46D4EA6}"/>
                </a:ext>
              </a:extLst>
            </p:cNvPr>
            <p:cNvSpPr/>
            <p:nvPr userDrawn="1"/>
          </p:nvSpPr>
          <p:spPr>
            <a:xfrm>
              <a:off x="489819" y="129644"/>
              <a:ext cx="61517" cy="61517"/>
            </a:xfrm>
            <a:prstGeom prst="ellipse">
              <a:avLst/>
            </a:prstGeom>
            <a:solidFill>
              <a:srgbClr val="B1C3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FEF551A-057B-8358-AF67-D5ADAD0655D8}"/>
                </a:ext>
              </a:extLst>
            </p:cNvPr>
            <p:cNvSpPr/>
            <p:nvPr userDrawn="1"/>
          </p:nvSpPr>
          <p:spPr>
            <a:xfrm>
              <a:off x="626344" y="129644"/>
              <a:ext cx="61517" cy="61517"/>
            </a:xfrm>
            <a:prstGeom prst="ellipse">
              <a:avLst/>
            </a:prstGeom>
            <a:solidFill>
              <a:srgbClr val="B1C3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7F9B9D4-10FA-D0E6-E924-655B4A10FB44}"/>
                </a:ext>
              </a:extLst>
            </p:cNvPr>
            <p:cNvSpPr/>
            <p:nvPr userDrawn="1"/>
          </p:nvSpPr>
          <p:spPr>
            <a:xfrm>
              <a:off x="762869" y="129644"/>
              <a:ext cx="61517" cy="61517"/>
            </a:xfrm>
            <a:prstGeom prst="ellipse">
              <a:avLst/>
            </a:prstGeom>
            <a:solidFill>
              <a:srgbClr val="233B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1AF8923-400A-0675-0853-083D542A09B9}"/>
                </a:ext>
              </a:extLst>
            </p:cNvPr>
            <p:cNvSpPr/>
            <p:nvPr userDrawn="1"/>
          </p:nvSpPr>
          <p:spPr>
            <a:xfrm>
              <a:off x="899394" y="129644"/>
              <a:ext cx="61517" cy="61517"/>
            </a:xfrm>
            <a:prstGeom prst="ellipse">
              <a:avLst/>
            </a:prstGeom>
            <a:solidFill>
              <a:srgbClr val="0B4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206B8C8-5291-CA72-2583-2980F3C9831F}"/>
                </a:ext>
              </a:extLst>
            </p:cNvPr>
            <p:cNvSpPr/>
            <p:nvPr userDrawn="1"/>
          </p:nvSpPr>
          <p:spPr>
            <a:xfrm>
              <a:off x="1035919" y="129644"/>
              <a:ext cx="61517" cy="61517"/>
            </a:xfrm>
            <a:prstGeom prst="ellipse">
              <a:avLst/>
            </a:prstGeom>
            <a:solidFill>
              <a:srgbClr val="00A8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</p:grpSp>
      <p:sp>
        <p:nvSpPr>
          <p:cNvPr id="18" name="제목 17">
            <a:extLst>
              <a:ext uri="{FF2B5EF4-FFF2-40B4-BE49-F238E27FC236}">
                <a16:creationId xmlns:a16="http://schemas.microsoft.com/office/drawing/2014/main" id="{813BD60C-F534-081B-38B8-9C3C51F1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35" y="268287"/>
            <a:ext cx="10666268" cy="464670"/>
          </a:xfrm>
          <a:prstGeom prst="rect">
            <a:avLst/>
          </a:prstGeom>
        </p:spPr>
        <p:txBody>
          <a:bodyPr anchor="ctr" anchorCtr="0"/>
          <a:lstStyle>
            <a:lvl1pPr algn="l">
              <a:defRPr lang="ko-KR" altLang="en-US" sz="2400" b="1" kern="120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44772"/>
                </a:solidFill>
                <a:effectLst>
                  <a:glow rad="127000">
                    <a:schemeClr val="bg1"/>
                  </a:glow>
                  <a:outerShdw blurRad="381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508415-547B-D16C-E86A-6A263BDA14C2}"/>
              </a:ext>
            </a:extLst>
          </p:cNvPr>
          <p:cNvSpPr/>
          <p:nvPr userDrawn="1"/>
        </p:nvSpPr>
        <p:spPr>
          <a:xfrm>
            <a:off x="34" y="116632"/>
            <a:ext cx="119302" cy="585772"/>
          </a:xfrm>
          <a:prstGeom prst="rect">
            <a:avLst/>
          </a:prstGeom>
          <a:solidFill>
            <a:srgbClr val="1030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091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4EC7A-2637-CA81-483E-186275AA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9C799-B415-1FC2-06F8-33C4050A2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7C281-9691-A233-EAA0-8F8104D4A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0F24E-E62D-46FC-9FCB-C20ADA2AB828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B5698-C34C-9FFC-7D4B-25D47968F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93AEB-4269-28C4-24BA-0180E0DA5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E2E72-9C63-4BE9-B143-E54B2599AD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55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83328-09B2-BD6E-3668-8F8D90C6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F89705E-6368-383D-0BAA-0994E8FDE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EA1E582-E1CC-4474-812F-1657BC5920B7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제목 3">
            <a:extLst>
              <a:ext uri="{FF2B5EF4-FFF2-40B4-BE49-F238E27FC236}">
                <a16:creationId xmlns:a16="http://schemas.microsoft.com/office/drawing/2014/main" id="{1D093F5E-8733-58D3-6480-80A42D9B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21" y="217151"/>
            <a:ext cx="10666268" cy="407165"/>
          </a:xfrm>
        </p:spPr>
        <p:txBody>
          <a:bodyPr lIns="91440" tIns="45720" rIns="91440" bIns="45720" anchor="ctr" anchorCtr="0">
            <a:normAutofit fontScale="90000"/>
          </a:bodyPr>
          <a:lstStyle/>
          <a:p>
            <a:r>
              <a:rPr lang="ko-KR" altLang="en-US" dirty="0">
                <a:ea typeface="Pretendard Black"/>
              </a:rPr>
              <a:t>아이디어</a:t>
            </a:r>
            <a:r>
              <a:rPr lang="en-US" altLang="ko-KR" dirty="0">
                <a:ea typeface="Pretendard Black"/>
              </a:rPr>
              <a:t>(4/6)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-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Privacy-Preserving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Commercial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District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Early-Warning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AI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Framework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for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Small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Business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Recovery</a:t>
            </a:r>
            <a:r>
              <a:rPr lang="ko-KR" altLang="en-US" dirty="0">
                <a:ea typeface="Pretendard Black"/>
              </a:rPr>
              <a:t> </a:t>
            </a:r>
            <a:r>
              <a:rPr lang="en-US" altLang="ko-KR" dirty="0">
                <a:ea typeface="Pretendard Black"/>
              </a:rPr>
              <a:t>Support</a:t>
            </a:r>
            <a:endParaRPr lang="ko-KR" altLang="en-US" dirty="0">
              <a:ea typeface="Pretendard Black"/>
            </a:endParaRPr>
          </a:p>
        </p:txBody>
      </p:sp>
      <p:sp>
        <p:nvSpPr>
          <p:cNvPr id="4" name="모서리가 둥근 직사각형 6">
            <a:extLst>
              <a:ext uri="{FF2B5EF4-FFF2-40B4-BE49-F238E27FC236}">
                <a16:creationId xmlns:a16="http://schemas.microsoft.com/office/drawing/2014/main" id="{0A20E1AE-1F5B-8EF1-C870-D6454DC86673}"/>
              </a:ext>
            </a:extLst>
          </p:cNvPr>
          <p:cNvSpPr/>
          <p:nvPr/>
        </p:nvSpPr>
        <p:spPr bwMode="auto">
          <a:xfrm>
            <a:off x="290109" y="1012314"/>
            <a:ext cx="11470520" cy="4325148"/>
          </a:xfrm>
          <a:prstGeom prst="roundRect">
            <a:avLst>
              <a:gd name="adj" fmla="val 0"/>
            </a:avLst>
          </a:prstGeom>
          <a:solidFill>
            <a:srgbClr val="E9EDF4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rtlCol="0" anchor="t" anchorCtr="0"/>
          <a:lstStyle/>
          <a:p>
            <a:pPr eaLnBrk="0" latinLnBrk="0" hangingPunct="0">
              <a:lnSpc>
                <a:spcPct val="150000"/>
              </a:lnSpc>
              <a:spcBef>
                <a:spcPts val="1200"/>
              </a:spcBef>
            </a:pPr>
            <a:r>
              <a:rPr lang="ko-KR" altLang="en-US" sz="1400" b="1" dirty="0">
                <a:solidFill>
                  <a:srgbClr val="0000CC"/>
                </a:solidFill>
                <a:ea typeface="맑은 고딕"/>
              </a:rPr>
              <a:t>■ </a:t>
            </a:r>
            <a:r>
              <a:rPr lang="ko-Kore-KR" sz="1400" b="1" dirty="0" err="1">
                <a:solidFill>
                  <a:srgbClr val="0000CC"/>
                </a:solidFill>
              </a:rPr>
              <a:t>추진</a:t>
            </a:r>
            <a:r>
              <a:rPr lang="ko-Kore-KR" sz="1400" b="1" dirty="0">
                <a:solidFill>
                  <a:srgbClr val="0000CC"/>
                </a:solidFill>
              </a:rPr>
              <a:t> </a:t>
            </a:r>
            <a:r>
              <a:rPr lang="ko-Kore-KR" sz="1400" b="1" dirty="0" err="1">
                <a:solidFill>
                  <a:srgbClr val="0000CC"/>
                </a:solidFill>
              </a:rPr>
              <a:t>배경</a:t>
            </a:r>
            <a:endParaRPr lang="en-US" sz="1400" b="1" dirty="0" err="1">
              <a:latin typeface="Open Sans" panose="020B0606030504020204" pitchFamily="34" charset="0"/>
            </a:endParaRPr>
          </a:p>
          <a:p>
            <a:pPr marL="285750" indent="-285750" eaLnBrk="0" latinLnBrk="0" hangingPunct="0">
              <a:spcBef>
                <a:spcPts val="600"/>
              </a:spcBef>
              <a:buFont typeface="Arial"/>
              <a:buChar char="•"/>
            </a:pPr>
            <a:r>
              <a:rPr lang="ko-KR" sz="1400" dirty="0">
                <a:ea typeface="+mn-lt"/>
                <a:cs typeface="+mn-lt"/>
              </a:rPr>
              <a:t>소규모 상권의 </a:t>
            </a:r>
            <a:r>
              <a:rPr lang="ko-KR" sz="1400" dirty="0" err="1">
                <a:ea typeface="+mn-lt"/>
                <a:cs typeface="+mn-lt"/>
              </a:rPr>
              <a:t>폐업률이</a:t>
            </a:r>
            <a:r>
              <a:rPr lang="ko-KR" sz="1400" dirty="0">
                <a:ea typeface="+mn-lt"/>
                <a:cs typeface="+mn-lt"/>
              </a:rPr>
              <a:t> 가속화되고 있으나, 분기별 폐업통계와 같은 </a:t>
            </a:r>
            <a:r>
              <a:rPr lang="ko-KR" sz="1400" b="1" u="sng" dirty="0" err="1">
                <a:ea typeface="+mn-lt"/>
                <a:cs typeface="+mn-lt"/>
              </a:rPr>
              <a:t>후행적</a:t>
            </a:r>
            <a:r>
              <a:rPr lang="ko-KR" sz="1400" b="1" u="sng" dirty="0">
                <a:ea typeface="+mn-lt"/>
                <a:cs typeface="+mn-lt"/>
              </a:rPr>
              <a:t> 지표는 상권이 이미 회복 불가능한 단계에</a:t>
            </a:r>
            <a:r>
              <a:rPr lang="ko-KR" sz="1400" dirty="0">
                <a:ea typeface="+mn-lt"/>
                <a:cs typeface="+mn-lt"/>
              </a:rPr>
              <a:t> 이른 </a:t>
            </a:r>
            <a:r>
              <a:rPr lang="ko-KR" sz="1400" dirty="0" err="1">
                <a:ea typeface="+mn-lt"/>
                <a:cs typeface="+mn-lt"/>
              </a:rPr>
              <a:t>시점에야</a:t>
            </a:r>
            <a:r>
              <a:rPr lang="ko-KR" sz="1400" dirty="0">
                <a:ea typeface="+mn-lt"/>
                <a:cs typeface="+mn-lt"/>
              </a:rPr>
              <a:t> 문제를 </a:t>
            </a:r>
            <a:r>
              <a:rPr lang="ko-KR" sz="1400" dirty="0" err="1">
                <a:ea typeface="+mn-lt"/>
                <a:cs typeface="+mn-lt"/>
              </a:rPr>
              <a:t>확인시켜줌</a:t>
            </a:r>
            <a:r>
              <a:rPr lang="ko-KR" sz="1400" dirty="0">
                <a:ea typeface="+mn-lt"/>
                <a:cs typeface="+mn-lt"/>
              </a:rPr>
              <a:t>.</a:t>
            </a:r>
            <a:endParaRPr lang="en-US" altLang="ko-KR" sz="1400" b="1" dirty="0"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latinLnBrk="0" hangingPunct="0">
              <a:spcBef>
                <a:spcPts val="600"/>
              </a:spcBef>
              <a:buFont typeface="Arial"/>
              <a:buChar char="•"/>
            </a:pPr>
            <a:r>
              <a:rPr lang="ko-KR" sz="1400" dirty="0">
                <a:ea typeface="+mn-lt"/>
                <a:cs typeface="+mn-lt"/>
              </a:rPr>
              <a:t>정부의 소상공인 지원 정책이 </a:t>
            </a:r>
            <a:r>
              <a:rPr lang="ko-KR" sz="1400" b="1" u="sng" dirty="0">
                <a:ea typeface="+mn-lt"/>
                <a:cs typeface="+mn-lt"/>
              </a:rPr>
              <a:t>폐업 이후 사후적 지원에서 폐업 이전 </a:t>
            </a:r>
            <a:r>
              <a:rPr lang="ko-KR" sz="1400" b="1" u="sng" dirty="0" err="1">
                <a:ea typeface="+mn-lt"/>
                <a:cs typeface="+mn-lt"/>
              </a:rPr>
              <a:t>선제적</a:t>
            </a:r>
            <a:r>
              <a:rPr lang="ko-KR" sz="1400" b="1" u="sng" dirty="0">
                <a:ea typeface="+mn-lt"/>
                <a:cs typeface="+mn-lt"/>
              </a:rPr>
              <a:t> 개입으로 전환을 요구하고 있으나</a:t>
            </a:r>
            <a:r>
              <a:rPr lang="ko-KR" sz="1400" dirty="0">
                <a:ea typeface="+mn-lt"/>
                <a:cs typeface="+mn-lt"/>
              </a:rPr>
              <a:t>, 이를 뒷받침할 데이터 기반 조기경보 체계는 아직 부재함.</a:t>
            </a:r>
            <a:endParaRPr lang="en-US" altLang="ko-KR" sz="1400" b="1" dirty="0"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latinLnBrk="0" hangingPunct="0">
              <a:spcBef>
                <a:spcPts val="600"/>
              </a:spcBef>
              <a:buFont typeface="Arial"/>
              <a:buChar char="•"/>
            </a:pPr>
            <a:r>
              <a:rPr lang="ko-KR" sz="1400" b="1" u="sng" dirty="0">
                <a:ea typeface="+mn-lt"/>
                <a:cs typeface="+mn-lt"/>
              </a:rPr>
              <a:t>상권정보시스템(</a:t>
            </a:r>
            <a:r>
              <a:rPr lang="ko-KR" sz="1400" b="1" u="sng" dirty="0" err="1">
                <a:ea typeface="+mn-lt"/>
                <a:cs typeface="+mn-lt"/>
              </a:rPr>
              <a:t>카드·통신</a:t>
            </a:r>
            <a:r>
              <a:rPr lang="ko-KR" sz="1400" b="1" u="sng" dirty="0">
                <a:ea typeface="+mn-lt"/>
                <a:cs typeface="+mn-lt"/>
              </a:rPr>
              <a:t> 결합 추정치), 생활인구(국가데이터처), 금융데이터거래소(카드사 매출 상품)</a:t>
            </a:r>
            <a:r>
              <a:rPr lang="ko-KR" sz="1400" dirty="0">
                <a:ea typeface="+mn-lt"/>
                <a:cs typeface="+mn-lt"/>
              </a:rPr>
              <a:t> 등 그간 분리되어 있던 이종 데이터를 실질적으로 활용할 수 있는 인프라가 이미 상당 부분 마련되어, </a:t>
            </a:r>
            <a:r>
              <a:rPr lang="ko-KR" sz="1400" b="1" u="sng" dirty="0">
                <a:ea typeface="+mn-lt"/>
                <a:cs typeface="+mn-lt"/>
              </a:rPr>
              <a:t>신규 </a:t>
            </a:r>
            <a:r>
              <a:rPr lang="ko-KR" sz="1400" b="1" u="sng" dirty="0" err="1">
                <a:ea typeface="+mn-lt"/>
                <a:cs typeface="+mn-lt"/>
              </a:rPr>
              <a:t>결합·분석</a:t>
            </a:r>
            <a:r>
              <a:rPr lang="ko-KR" sz="1400" b="1" u="sng" dirty="0">
                <a:ea typeface="+mn-lt"/>
                <a:cs typeface="+mn-lt"/>
              </a:rPr>
              <a:t> 시도의 실현 가능성이 높아짐</a:t>
            </a:r>
            <a:r>
              <a:rPr lang="ko-KR" sz="1400" dirty="0">
                <a:ea typeface="+mn-lt"/>
                <a:cs typeface="+mn-lt"/>
              </a:rPr>
              <a:t>.</a:t>
            </a:r>
            <a:endParaRPr lang="en-US" altLang="ko-KR" sz="1400" b="1" dirty="0"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 eaLnBrk="0" latinLnBrk="0" hangingPunct="0">
              <a:spcBef>
                <a:spcPts val="600"/>
              </a:spcBef>
              <a:buFontTx/>
              <a:buChar char="-"/>
            </a:pPr>
            <a:endParaRPr lang="en-US" altLang="ko-KR" sz="1400" b="1" dirty="0">
              <a:latin typeface="Open Sans" panose="020B0606030504020204" pitchFamily="34" charset="0"/>
            </a:endParaRPr>
          </a:p>
          <a:p>
            <a:pPr eaLnBrk="0" latinLnBrk="0" hangingPunct="0">
              <a:lnSpc>
                <a:spcPct val="150000"/>
              </a:lnSpc>
              <a:spcBef>
                <a:spcPts val="1200"/>
              </a:spcBef>
            </a:pPr>
            <a:r>
              <a:rPr lang="ko-KR" altLang="en-US" sz="1400" b="1" dirty="0">
                <a:solidFill>
                  <a:srgbClr val="0000CC"/>
                </a:solidFill>
                <a:ea typeface="맑은 고딕"/>
              </a:rPr>
              <a:t>■ </a:t>
            </a:r>
            <a:r>
              <a:rPr lang="ko-Kore-KR" altLang="en-US" sz="1400" b="1" dirty="0" err="1">
                <a:solidFill>
                  <a:srgbClr val="0000CC"/>
                </a:solidFill>
              </a:rPr>
              <a:t>필요성</a:t>
            </a:r>
            <a:endParaRPr lang="en-US" altLang="ko-KR" sz="1400" b="1" dirty="0" err="1">
              <a:latin typeface="Open Sans" panose="020B0606030504020204" pitchFamily="34" charset="0"/>
            </a:endParaRPr>
          </a:p>
          <a:p>
            <a:pPr marL="285750" indent="-285750" eaLnBrk="0" latinLnBrk="0" hangingPunct="0">
              <a:spcBef>
                <a:spcPts val="600"/>
              </a:spcBef>
              <a:buFont typeface="Arial"/>
              <a:buChar char="•"/>
            </a:pPr>
            <a:r>
              <a:rPr lang="ko-KR" sz="1400" dirty="0">
                <a:ea typeface="+mn-lt"/>
                <a:cs typeface="+mn-lt"/>
              </a:rPr>
              <a:t>현행 지표는 폐업이 확정된 </a:t>
            </a:r>
            <a:r>
              <a:rPr lang="ko-KR" sz="1400" dirty="0" err="1">
                <a:ea typeface="+mn-lt"/>
                <a:cs typeface="+mn-lt"/>
              </a:rPr>
              <a:t>이후에야</a:t>
            </a:r>
            <a:r>
              <a:rPr lang="ko-KR" sz="1400" dirty="0">
                <a:ea typeface="+mn-lt"/>
                <a:cs typeface="+mn-lt"/>
              </a:rPr>
              <a:t> 통계로 드러나는 </a:t>
            </a:r>
            <a:r>
              <a:rPr lang="ko-KR" sz="1400" dirty="0" err="1">
                <a:ea typeface="+mn-lt"/>
                <a:cs typeface="+mn-lt"/>
              </a:rPr>
              <a:t>후행적</a:t>
            </a:r>
            <a:r>
              <a:rPr lang="ko-KR" sz="1400" dirty="0">
                <a:ea typeface="+mn-lt"/>
                <a:cs typeface="+mn-lt"/>
              </a:rPr>
              <a:t> 성격을 가져, </a:t>
            </a:r>
            <a:r>
              <a:rPr lang="ko-KR" sz="1400" b="1" u="sng" dirty="0">
                <a:ea typeface="+mn-lt"/>
                <a:cs typeface="+mn-lt"/>
              </a:rPr>
              <a:t>지자체의 임대료 </a:t>
            </a:r>
            <a:r>
              <a:rPr lang="ko-KR" sz="1400" b="1" u="sng" dirty="0" err="1">
                <a:ea typeface="+mn-lt"/>
                <a:cs typeface="+mn-lt"/>
              </a:rPr>
              <a:t>지원·마케팅</a:t>
            </a:r>
            <a:r>
              <a:rPr lang="ko-KR" sz="1400" b="1" u="sng" dirty="0">
                <a:ea typeface="+mn-lt"/>
                <a:cs typeface="+mn-lt"/>
              </a:rPr>
              <a:t> 보조금이 실효성 있는 시점을 놓치는 구조적 한계가 있음</a:t>
            </a:r>
            <a:endParaRPr lang="en-US" altLang="ko-KR" sz="1400" b="1" u="sng" dirty="0">
              <a:latin typeface="Open Sans"/>
              <a:ea typeface="맑은 고딕"/>
              <a:cs typeface="Open Sans"/>
            </a:endParaRPr>
          </a:p>
          <a:p>
            <a:pPr marL="285750" indent="-285750" eaLnBrk="0" latinLnBrk="0" hangingPunct="0">
              <a:spcBef>
                <a:spcPts val="600"/>
              </a:spcBef>
              <a:buFont typeface="Arial"/>
              <a:buChar char="•"/>
            </a:pPr>
            <a:r>
              <a:rPr lang="ko-KR" sz="1400" dirty="0">
                <a:ea typeface="+mn-lt"/>
                <a:cs typeface="+mn-lt"/>
              </a:rPr>
              <a:t>매출(금융)·</a:t>
            </a:r>
            <a:r>
              <a:rPr lang="ko-KR" sz="1400" dirty="0" err="1">
                <a:ea typeface="+mn-lt"/>
                <a:cs typeface="+mn-lt"/>
              </a:rPr>
              <a:t>등록·폐업</a:t>
            </a:r>
            <a:r>
              <a:rPr lang="ko-KR" sz="1400" dirty="0">
                <a:ea typeface="+mn-lt"/>
                <a:cs typeface="+mn-lt"/>
              </a:rPr>
              <a:t>(행정)·유동인구(통신) 데이터를 각각 단독으로 볼 경우 쇠퇴가 고객 감소 때문인지 소비력 감소 때문인지 구분할 수 없어, </a:t>
            </a:r>
            <a:r>
              <a:rPr lang="ko-KR" sz="1400" b="1" u="sng" dirty="0">
                <a:ea typeface="+mn-lt"/>
                <a:cs typeface="+mn-lt"/>
              </a:rPr>
              <a:t>세 부문의 가명결합을 통한 다각적 분석이 필요함</a:t>
            </a:r>
            <a:r>
              <a:rPr lang="ko-KR" sz="1400" dirty="0">
                <a:ea typeface="+mn-lt"/>
                <a:cs typeface="+mn-lt"/>
              </a:rPr>
              <a:t>.</a:t>
            </a:r>
            <a:endParaRPr lang="en-US" altLang="ko-KR" sz="1400" b="1" dirty="0">
              <a:latin typeface="Open Sans"/>
              <a:ea typeface="맑은 고딕"/>
              <a:cs typeface="Open Sans"/>
            </a:endParaRPr>
          </a:p>
          <a:p>
            <a:pPr marL="285750" indent="-285750" eaLnBrk="0" latinLnBrk="0" hangingPunct="0">
              <a:spcBef>
                <a:spcPts val="600"/>
              </a:spcBef>
              <a:buFont typeface="Arial"/>
              <a:buChar char="•"/>
            </a:pPr>
            <a:r>
              <a:rPr lang="ko-KR" sz="1400" dirty="0">
                <a:ea typeface="+mn-lt"/>
                <a:cs typeface="+mn-lt"/>
              </a:rPr>
              <a:t>개별 </a:t>
            </a:r>
            <a:r>
              <a:rPr lang="ko-KR" sz="1400" dirty="0" err="1">
                <a:ea typeface="+mn-lt"/>
                <a:cs typeface="+mn-lt"/>
              </a:rPr>
              <a:t>점포·개별</a:t>
            </a:r>
            <a:r>
              <a:rPr lang="ko-KR" sz="1400" dirty="0">
                <a:ea typeface="+mn-lt"/>
                <a:cs typeface="+mn-lt"/>
              </a:rPr>
              <a:t> 상권 단위 분석만으로는 하나의 핵심 점포 침체가 인접 점포군으로 확산되는 연쇄적 쇠퇴 양상을 사전에 포착할 수 없어, </a:t>
            </a:r>
            <a:r>
              <a:rPr lang="ko-KR" sz="1400" b="1" u="sng" dirty="0">
                <a:ea typeface="+mn-lt"/>
                <a:cs typeface="+mn-lt"/>
              </a:rPr>
              <a:t>상권 간 공간적 상호작용을 모델링하는 새로운 분석 접근(</a:t>
            </a:r>
            <a:r>
              <a:rPr lang="ko-KR" sz="1400" b="1" u="sng" dirty="0" err="1">
                <a:ea typeface="+mn-lt"/>
                <a:cs typeface="+mn-lt"/>
              </a:rPr>
              <a:t>생존분석+공간</a:t>
            </a:r>
            <a:r>
              <a:rPr lang="ko-KR" sz="1400" b="1" u="sng" dirty="0">
                <a:ea typeface="+mn-lt"/>
                <a:cs typeface="+mn-lt"/>
              </a:rPr>
              <a:t> 그래프 학습)이 필요함</a:t>
            </a:r>
            <a:r>
              <a:rPr lang="ko-KR" sz="1400" dirty="0">
                <a:ea typeface="+mn-lt"/>
                <a:cs typeface="+mn-lt"/>
              </a:rPr>
              <a:t>.</a:t>
            </a:r>
            <a:endParaRPr lang="en-US" altLang="ko-KR" sz="1400" b="1" dirty="0">
              <a:latin typeface="Open Sans"/>
              <a:ea typeface="맑은 고딕"/>
              <a:cs typeface="Open Sans"/>
            </a:endParaRPr>
          </a:p>
          <a:p>
            <a:pPr marL="285750" indent="-285750" eaLnBrk="0" latinLnBrk="0" hangingPunct="0">
              <a:spcBef>
                <a:spcPts val="600"/>
              </a:spcBef>
              <a:buFontTx/>
              <a:buChar char="-"/>
            </a:pPr>
            <a:endParaRPr lang="en-US" altLang="ko-KR" sz="1400" b="1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794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BDA40-B294-9495-B56F-8FFB4A67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0A3A46-BBAF-4DC2-A107-2EF4ECD42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EA1E582-E1CC-4474-812F-1657BC5920B7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1" name="제목 3">
            <a:extLst>
              <a:ext uri="{FF2B5EF4-FFF2-40B4-BE49-F238E27FC236}">
                <a16:creationId xmlns:a16="http://schemas.microsoft.com/office/drawing/2014/main" id="{90AB0781-89E1-42D7-1FE5-B2C80C49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21" y="217151"/>
            <a:ext cx="10666268" cy="407165"/>
          </a:xfrm>
        </p:spPr>
        <p:txBody>
          <a:bodyPr lIns="91440" tIns="45720" rIns="91440" bIns="45720" anchor="ctr" anchorCtr="0">
            <a:normAutofit fontScale="90000"/>
          </a:bodyPr>
          <a:lstStyle/>
          <a:p>
            <a:r>
              <a:rPr lang="ko-KR">
                <a:ea typeface="Pretendard Black"/>
              </a:rPr>
              <a:t>아이디어</a:t>
            </a:r>
            <a:r>
              <a:rPr lang="en-US">
                <a:ea typeface="Pretendard Black"/>
              </a:rPr>
              <a:t>(4/6)</a:t>
            </a:r>
            <a:r>
              <a:rPr lang="ko-KR">
                <a:ea typeface="Pretendard Black"/>
              </a:rPr>
              <a:t> </a:t>
            </a:r>
            <a:r>
              <a:rPr lang="en-US">
                <a:ea typeface="Pretendard Black"/>
              </a:rPr>
              <a:t>-</a:t>
            </a:r>
            <a:r>
              <a:rPr lang="ko-KR">
                <a:ea typeface="Pretendard Black"/>
              </a:rPr>
              <a:t> </a:t>
            </a:r>
            <a:r>
              <a:rPr lang="en-US">
                <a:ea typeface="Pretendard Black"/>
              </a:rPr>
              <a:t>Privacy-Preserving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Commercial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District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Early-Warning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AI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Framework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for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Small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Business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Recovery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Support</a:t>
            </a:r>
            <a:endParaRPr lang="en-US" altLang="ko-KR"/>
          </a:p>
        </p:txBody>
      </p:sp>
      <p:sp>
        <p:nvSpPr>
          <p:cNvPr id="2" name="모서리가 둥근 직사각형 6">
            <a:extLst>
              <a:ext uri="{FF2B5EF4-FFF2-40B4-BE49-F238E27FC236}">
                <a16:creationId xmlns:a16="http://schemas.microsoft.com/office/drawing/2014/main" id="{DB94BE6C-AF19-D674-26AA-C669BE119E14}"/>
              </a:ext>
            </a:extLst>
          </p:cNvPr>
          <p:cNvSpPr/>
          <p:nvPr/>
        </p:nvSpPr>
        <p:spPr bwMode="auto">
          <a:xfrm>
            <a:off x="375254" y="1002652"/>
            <a:ext cx="11419721" cy="2662261"/>
          </a:xfrm>
          <a:prstGeom prst="roundRect">
            <a:avLst>
              <a:gd name="adj" fmla="val 0"/>
            </a:avLst>
          </a:prstGeom>
          <a:solidFill>
            <a:srgbClr val="E9EDF4"/>
          </a:solidFill>
          <a:ln w="9525">
            <a:noFill/>
            <a:miter lim="800000"/>
            <a:headEnd/>
            <a:tailEnd/>
          </a:ln>
          <a:effectLst/>
        </p:spPr>
        <p:txBody>
          <a:bodyPr wrap="square" rtlCol="0" anchor="t" anchorCtr="0"/>
          <a:lstStyle/>
          <a:p>
            <a:pPr eaLnBrk="0" latinLnBrk="0" hangingPunct="0">
              <a:lnSpc>
                <a:spcPct val="150000"/>
              </a:lnSpc>
              <a:spcBef>
                <a:spcPts val="1200"/>
              </a:spcBef>
            </a:pPr>
            <a:r>
              <a:rPr lang="ko-KR" altLang="en-US" sz="1400" b="1">
                <a:solidFill>
                  <a:srgbClr val="0000CC"/>
                </a:solidFill>
              </a:rPr>
              <a:t>■ </a:t>
            </a:r>
            <a:r>
              <a:rPr lang="ko-Kore-KR" altLang="en-US" sz="1400" b="1">
                <a:solidFill>
                  <a:srgbClr val="0000CC"/>
                </a:solidFill>
              </a:rPr>
              <a:t>활용</a:t>
            </a:r>
            <a:r>
              <a:rPr lang="ko-KR" altLang="en-US" sz="1400" b="1">
                <a:solidFill>
                  <a:srgbClr val="0000CC"/>
                </a:solidFill>
              </a:rPr>
              <a:t> 데이터</a:t>
            </a:r>
            <a:endParaRPr lang="en-US" altLang="ko-KR" sz="1400" b="1">
              <a:latin typeface="Open Sans" panose="020B0606030504020204" pitchFamily="34" charset="0"/>
            </a:endParaRPr>
          </a:p>
        </p:txBody>
      </p:sp>
      <p:sp>
        <p:nvSpPr>
          <p:cNvPr id="5" name="모서리가 둥근 직사각형 6">
            <a:extLst>
              <a:ext uri="{FF2B5EF4-FFF2-40B4-BE49-F238E27FC236}">
                <a16:creationId xmlns:a16="http://schemas.microsoft.com/office/drawing/2014/main" id="{79E7C426-5E56-5B56-A791-B82D059A811C}"/>
              </a:ext>
            </a:extLst>
          </p:cNvPr>
          <p:cNvSpPr/>
          <p:nvPr/>
        </p:nvSpPr>
        <p:spPr bwMode="auto">
          <a:xfrm>
            <a:off x="375254" y="3745363"/>
            <a:ext cx="11412464" cy="2866457"/>
          </a:xfrm>
          <a:prstGeom prst="roundRect">
            <a:avLst>
              <a:gd name="adj" fmla="val 0"/>
            </a:avLst>
          </a:prstGeom>
          <a:solidFill>
            <a:srgbClr val="E9EDF4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rtlCol="0" anchor="t" anchorCtr="0"/>
          <a:lstStyle/>
          <a:p>
            <a:pPr eaLnBrk="0" latinLnBrk="0" hangingPunct="0">
              <a:lnSpc>
                <a:spcPct val="150000"/>
              </a:lnSpc>
              <a:spcBef>
                <a:spcPts val="1200"/>
              </a:spcBef>
            </a:pPr>
            <a:r>
              <a:rPr lang="ko-KR" altLang="en-US" sz="1400" b="1">
                <a:solidFill>
                  <a:srgbClr val="0000CC"/>
                </a:solidFill>
              </a:rPr>
              <a:t>■ 데이터 레코드 상세정보</a:t>
            </a:r>
            <a:endParaRPr lang="en-US" altLang="ko-KR" sz="1400" b="1">
              <a:latin typeface="Open Sans" panose="020B0606030504020204" pitchFamily="34" charset="0"/>
            </a:endParaRPr>
          </a:p>
          <a:p>
            <a:pPr marL="285750" indent="-285750" eaLnBrk="0" latinLnBrk="0" hangingPunct="0">
              <a:spcBef>
                <a:spcPts val="600"/>
              </a:spcBef>
              <a:buFont typeface="Arial"/>
              <a:buChar char="•"/>
            </a:pPr>
            <a:r>
              <a:rPr lang="ko-KR" altLang="en-US" sz="1400" b="1">
                <a:ea typeface="+mn-lt"/>
                <a:cs typeface="+mn-lt"/>
              </a:rPr>
              <a:t>식약처 업소 데이터</a:t>
            </a:r>
            <a:r>
              <a:rPr lang="ko-KR" altLang="en-US" sz="1400">
                <a:ea typeface="+mn-lt"/>
                <a:cs typeface="+mn-lt"/>
              </a:rPr>
              <a:t>와 </a:t>
            </a:r>
            <a:r>
              <a:rPr lang="ko-KR" altLang="en-US" sz="1400" b="1">
                <a:ea typeface="+mn-lt"/>
                <a:cs typeface="+mn-lt"/>
              </a:rPr>
              <a:t>소상공인시장진흥공단 상권 데이터</a:t>
            </a:r>
            <a:r>
              <a:rPr lang="ko-KR" altLang="en-US" sz="1400">
                <a:ea typeface="+mn-lt"/>
                <a:cs typeface="+mn-lt"/>
              </a:rPr>
              <a:t>를 결합하여 </a:t>
            </a:r>
            <a:r>
              <a:rPr lang="ko-KR" altLang="en-US" sz="1400" b="1">
                <a:ea typeface="+mn-lt"/>
                <a:cs typeface="+mn-lt"/>
              </a:rPr>
              <a:t>상권 쇠퇴 조기경보 </a:t>
            </a:r>
            <a:r>
              <a:rPr lang="en-US" altLang="ko-KR" sz="1400" b="1">
                <a:ea typeface="+mn-lt"/>
                <a:cs typeface="+mn-lt"/>
              </a:rPr>
              <a:t>AI</a:t>
            </a:r>
            <a:r>
              <a:rPr lang="ko-KR" altLang="en-US" sz="1400" b="1">
                <a:ea typeface="+mn-lt"/>
                <a:cs typeface="+mn-lt"/>
              </a:rPr>
              <a:t> 모델</a:t>
            </a:r>
            <a:endParaRPr lang="ko-KR" sz="1400">
              <a:latin typeface="맑은 고딕"/>
              <a:ea typeface="맑은 고딕"/>
              <a:cs typeface="Open San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8480BC9-4CF6-3B93-103B-BAA4DD96C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121087"/>
              </p:ext>
            </p:extLst>
          </p:nvPr>
        </p:nvGraphicFramePr>
        <p:xfrm>
          <a:off x="750620" y="1409531"/>
          <a:ext cx="10349180" cy="2292889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306780">
                  <a:extLst>
                    <a:ext uri="{9D8B030D-6E8A-4147-A177-3AD203B41FA5}">
                      <a16:colId xmlns:a16="http://schemas.microsoft.com/office/drawing/2014/main" val="1705096540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1306542410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2385177672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3263188970"/>
                    </a:ext>
                  </a:extLst>
                </a:gridCol>
                <a:gridCol w="2260600">
                  <a:extLst>
                    <a:ext uri="{9D8B030D-6E8A-4147-A177-3AD203B41FA5}">
                      <a16:colId xmlns:a16="http://schemas.microsoft.com/office/drawing/2014/main" val="3913409435"/>
                    </a:ext>
                  </a:extLst>
                </a:gridCol>
              </a:tblGrid>
              <a:tr h="448849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endParaRPr lang="ko-KR" altLang="en-US" sz="1200" b="1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1" hangingPunct="1">
                        <a:buNone/>
                      </a:pPr>
                      <a:r>
                        <a:rPr lang="en-US" altLang="ko-KR" sz="12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식품_일반음식점</a:t>
                      </a:r>
                      <a:endParaRPr lang="en-US" altLang="ko-KR"/>
                    </a:p>
                    <a:p>
                      <a:pPr marL="0" lvl="0" algn="ctr">
                        <a:buNone/>
                      </a:pPr>
                      <a:r>
                        <a:rPr lang="ko-KR" altLang="en-US" sz="12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데이터</a:t>
                      </a:r>
                      <a:endParaRPr lang="en-US" altLang="ko-KR"/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2.</a:t>
                      </a:r>
                      <a:r>
                        <a:rPr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 식품_휴게음식점</a:t>
                      </a:r>
                      <a:endParaRPr lang="en-US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 </a:t>
                      </a: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데이터</a:t>
                      </a:r>
                      <a:endParaRPr kumimoji="0" lang="en-US"/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3.</a:t>
                      </a:r>
                      <a:r>
                        <a:rPr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+mn-cs"/>
                        </a:rPr>
                        <a:t>서울시</a:t>
                      </a:r>
                      <a:r>
                        <a:rPr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+mn-cs"/>
                        </a:rPr>
                        <a:t>상권분석서비스</a:t>
                      </a:r>
                      <a:endParaRPr lang="en-US"/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 </a:t>
                      </a: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영역</a:t>
                      </a: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r>
                        <a:rPr kumimoji="0"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상권</a:t>
                      </a: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  <a:endParaRPr kumimoji="0" lang="ko-KR" alt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4.</a:t>
                      </a:r>
                      <a:r>
                        <a:rPr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 서울시 상권분석서비스</a:t>
                      </a:r>
                      <a:endParaRPr lang="en-US" altLang="ko-KR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(</a:t>
                      </a:r>
                      <a:r>
                        <a:rPr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추정매출</a:t>
                      </a:r>
                      <a:r>
                        <a:rPr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r>
                        <a:rPr lang="ko-KR" alt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상권</a:t>
                      </a:r>
                      <a:r>
                        <a:rPr lang="en-US" altLang="ko-K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36245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보유기관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ko-KR" sz="12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식품의약품안전처 </a:t>
                      </a:r>
                      <a:endParaRPr lang="ko-KR" altLang="en-US" sz="1200" b="0" i="0" u="none" strike="noStrike" kern="1200" baseline="0" noProof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ko-KR" altLang="en-US" sz="12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식품의약품안전처 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서울신용보증재단</a:t>
                      </a:r>
                      <a:endParaRPr lang="en-US" err="1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1" hangingPunct="1">
                        <a:buNone/>
                      </a:pPr>
                      <a:r>
                        <a:rPr lang="en-US" altLang="ko-KR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FSI 데이터전문기관</a:t>
                      </a:r>
                      <a:endParaRPr lang="en-US" altLang="ko-KR" sz="1200" kern="1200" err="1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7981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개요</a:t>
                      </a:r>
                      <a:endParaRPr lang="en-US" altLang="ko-KR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인허가일자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영업상태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영업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/</a:t>
                      </a:r>
                      <a:r>
                        <a:rPr 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정상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), </a:t>
                      </a:r>
                      <a:r>
                        <a:rPr 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사업장명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업소명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), </a:t>
                      </a:r>
                      <a:r>
                        <a:rPr 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소재지주소 등의 데이터를 제공합니다</a:t>
                      </a:r>
                      <a:r>
                        <a:rPr lang="en-US" altLang="ko-KR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.</a:t>
                      </a:r>
                      <a:endParaRPr lang="en-US" altLang="ko-KR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ko-KR" alt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인허가일자</a:t>
                      </a: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영업상태</a:t>
                      </a: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영업</a:t>
                      </a: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/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정상</a:t>
                      </a: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), 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사업장명</a:t>
                      </a: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(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업소명</a:t>
                      </a: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), </a:t>
                      </a:r>
                      <a:r>
                        <a:rPr lang="ko-KR" alt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소재지주소 등의 데이터를 제공합니다</a:t>
                      </a:r>
                      <a:r>
                        <a:rPr lang="en-US" sz="1200" b="0" i="0" u="none" strike="noStrike" kern="1200" noProof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Malgun Gothic"/>
                          <a:ea typeface="Malgun Gothic"/>
                          <a:cs typeface="+mn-cs"/>
                        </a:rPr>
                        <a:t>.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서울시 </a:t>
                      </a:r>
                      <a:r>
                        <a:rPr lang="ko-KR" alt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상권 영역의 공간 다각형</a:t>
                      </a:r>
                      <a:r>
                        <a:rPr lang="en-US" altLang="ko-KR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(Polygon) </a:t>
                      </a:r>
                      <a:r>
                        <a:rPr lang="ko-KR" alt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좌표 및 상권 식별 정보 제공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1" hangingPunct="1">
                        <a:buNone/>
                      </a:pPr>
                      <a:r>
                        <a:rPr lang="en-US" altLang="ko-KR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2021~2025</a:t>
                      </a:r>
                      <a:r>
                        <a:rPr lang="ko-KR" alt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년까지 서울시 상권 내 점포들의 분기별 추정 매출액 및 결제 건수 등 제공</a:t>
                      </a:r>
                      <a:endParaRPr lang="en-US" altLang="ko-KR" sz="1200" kern="1200" err="1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09619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레코드 수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algn="ctr" rtl="0" eaLnBrk="1" fontAlgn="t" latinLnBrk="1" hangingPunct="1">
                        <a:buNone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1126723 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685802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1651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1" hangingPunct="1">
                        <a:buNone/>
                      </a:pPr>
                      <a:r>
                        <a:rPr lang="ko-KR" altLang="ko-KR" sz="1200"/>
                        <a:t>439146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39152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컬럼 수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</a:t>
                      </a:r>
                      <a:endParaRPr lang="en-US" altLang="ko-KR" sz="12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52874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데이터 크기</a:t>
                      </a:r>
                    </a:p>
                  </a:txBody>
                  <a:tcPr marL="38100" marR="38100" marT="38100" marB="38100"/>
                </a:tc>
                <a:tc>
                  <a:txBody>
                    <a:bodyPr/>
                    <a:lstStyle/>
                    <a:p>
                      <a:pPr marL="0" algn="ctr" rtl="0" eaLnBrk="1" fontAlgn="t" latinLnBrk="1" hangingPunct="1">
                        <a:buNone/>
                      </a:pPr>
                      <a:r>
                        <a:rPr lang="ko-KR" alt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713.36 MB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1" hangingPunct="1">
                        <a:buNone/>
                      </a:pPr>
                      <a:r>
                        <a:rPr lang="en-US" altLang="ko-KR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209.78 MB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1" hangingPunct="1">
                        <a:buNone/>
                      </a:pPr>
                      <a:r>
                        <a:rPr lang="en-US" altLang="ko-KR" sz="12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7.31 MB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ko-KR" altLang="ko-KR" sz="1200"/>
                        <a:t>193.83MB</a:t>
                      </a:r>
                      <a:endParaRPr lang="en-US" altLang="ko-KR" sz="12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075010"/>
                  </a:ext>
                </a:extLst>
              </a:tr>
            </a:tbl>
          </a:graphicData>
        </a:graphic>
      </p:graphicFrame>
      <p:sp>
        <p:nvSpPr>
          <p:cNvPr id="16" name="화살표: 오른쪽 617">
            <a:extLst>
              <a:ext uri="{FF2B5EF4-FFF2-40B4-BE49-F238E27FC236}">
                <a16:creationId xmlns:a16="http://schemas.microsoft.com/office/drawing/2014/main" id="{2A399C8E-3C08-856D-90CF-19455C730854}"/>
              </a:ext>
            </a:extLst>
          </p:cNvPr>
          <p:cNvSpPr/>
          <p:nvPr/>
        </p:nvSpPr>
        <p:spPr>
          <a:xfrm>
            <a:off x="8251728" y="4834269"/>
            <a:ext cx="644677" cy="588055"/>
          </a:xfrm>
          <a:prstGeom prst="rightArrow">
            <a:avLst/>
          </a:prstGeom>
          <a:gradFill>
            <a:gsLst>
              <a:gs pos="0">
                <a:srgbClr val="1B9BDB">
                  <a:alpha val="0"/>
                </a:srgbClr>
              </a:gs>
              <a:gs pos="100000">
                <a:srgbClr val="1E339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/>
          </a:p>
        </p:txBody>
      </p:sp>
      <p:sp>
        <p:nvSpPr>
          <p:cNvPr id="17" name="사각형: 둥근 모서리 468">
            <a:extLst>
              <a:ext uri="{FF2B5EF4-FFF2-40B4-BE49-F238E27FC236}">
                <a16:creationId xmlns:a16="http://schemas.microsoft.com/office/drawing/2014/main" id="{25689FB0-42BF-6464-9DFE-644A8DB5AFE7}"/>
              </a:ext>
            </a:extLst>
          </p:cNvPr>
          <p:cNvSpPr/>
          <p:nvPr/>
        </p:nvSpPr>
        <p:spPr>
          <a:xfrm>
            <a:off x="9055210" y="4243548"/>
            <a:ext cx="2557029" cy="1593541"/>
          </a:xfrm>
          <a:prstGeom prst="roundRect">
            <a:avLst>
              <a:gd name="adj" fmla="val 7273"/>
            </a:avLst>
          </a:prstGeom>
          <a:solidFill>
            <a:schemeClr val="tx1">
              <a:alpha val="7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 b="1">
                <a:ea typeface="+mn-lt"/>
                <a:cs typeface="+mn-lt"/>
              </a:rPr>
              <a:t>상권별 폐업 위험도를 시계열로 예측하고 인접 상권 간 쇠퇴 전이를 탐지하는 생존분석</a:t>
            </a:r>
            <a:r>
              <a:rPr lang="en-US" altLang="ko-KR" sz="1200" b="1">
                <a:ea typeface="+mn-lt"/>
                <a:cs typeface="+mn-lt"/>
              </a:rPr>
              <a:t>·</a:t>
            </a:r>
            <a:r>
              <a:rPr lang="ko-KR" altLang="en-US" sz="1200" b="1">
                <a:ea typeface="+mn-lt"/>
                <a:cs typeface="+mn-lt"/>
              </a:rPr>
              <a:t>공간그래프 기반 </a:t>
            </a:r>
            <a:r>
              <a:rPr lang="en-US" altLang="ko-KR" sz="1200" b="1">
                <a:ea typeface="+mn-lt"/>
                <a:cs typeface="+mn-lt"/>
              </a:rPr>
              <a:t>AI</a:t>
            </a:r>
            <a:r>
              <a:rPr lang="ko-KR" altLang="en-US" sz="1200" b="1">
                <a:ea typeface="+mn-lt"/>
                <a:cs typeface="+mn-lt"/>
              </a:rPr>
              <a:t> 조기경보 모델</a:t>
            </a:r>
            <a:r>
              <a:rPr lang="ko-KR" altLang="en-US" sz="1200">
                <a:ea typeface="+mn-lt"/>
                <a:cs typeface="+mn-lt"/>
              </a:rPr>
              <a:t> </a:t>
            </a:r>
            <a:r>
              <a:rPr lang="ko-KR" altLang="en-US" sz="1200" b="1">
                <a:latin typeface="Open Sans"/>
                <a:ea typeface="맑은 고딕"/>
                <a:cs typeface="Open Sans"/>
              </a:rPr>
              <a:t>결과</a:t>
            </a:r>
            <a:endParaRPr lang="ko-KR" altLang="en-US" sz="120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Open Sans"/>
              <a:ea typeface="맑은 고딕"/>
              <a:cs typeface="Open Sans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5B5AE949-F2AC-C01F-45DC-AFCB2E7BDFD7}"/>
              </a:ext>
            </a:extLst>
          </p:cNvPr>
          <p:cNvGraphicFramePr>
            <a:graphicFrameLocks noGrp="1"/>
          </p:cNvGraphicFramePr>
          <p:nvPr/>
        </p:nvGraphicFramePr>
        <p:xfrm>
          <a:off x="1165980" y="5742792"/>
          <a:ext cx="6920592" cy="86868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205592">
                  <a:extLst>
                    <a:ext uri="{9D8B030D-6E8A-4147-A177-3AD203B41FA5}">
                      <a16:colId xmlns:a16="http://schemas.microsoft.com/office/drawing/2014/main" val="170509654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30654241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38517767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73438837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46429425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26318897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913409435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ko-KR" altLang="en-US" sz="9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컬럼명</a:t>
                      </a:r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기준_년분기_코드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상권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_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구분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_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코드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상권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_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구분_코드_명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상권_코드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지출_총금액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식료품_지출_총금액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36245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ko-KR" altLang="en-US" sz="9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20261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U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관광특구</a:t>
                      </a:r>
                      <a:endParaRPr lang="en-US" err="1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3001495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34526221</a:t>
                      </a:r>
                      <a:endParaRPr lang="en-US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59452342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7981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ko-KR" altLang="en-US" sz="9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가명처리 기법</a:t>
                      </a:r>
                      <a:endParaRPr lang="en-US" altLang="ko-KR" sz="900" b="1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ko-KR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Keep</a:t>
                      </a:r>
                      <a:endParaRPr lang="en-US" altLang="ko-KR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endParaRPr lang="en-US" altLang="ko-KR" sz="900" b="0" i="0" u="none" strike="noStrike" kern="1200" noProof="0">
                        <a:solidFill>
                          <a:schemeClr val="dk1"/>
                        </a:solidFill>
                        <a:effectLst/>
                        <a:highlight>
                          <a:srgbClr val="474747"/>
                        </a:highlight>
                        <a:latin typeface="Malgun Gothic"/>
                        <a:ea typeface="Malgun Gothic"/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시군구 코드</a:t>
                      </a:r>
                      <a:endParaRPr lang="en-US" sz="900" b="0" i="0" u="none" strike="noStrike" kern="1200" baseline="0" noProof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집계값</a:t>
                      </a:r>
                      <a:endParaRPr lang="en-US" err="1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집계값</a:t>
                      </a:r>
                      <a:endParaRPr lang="en-US" err="1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집계값</a:t>
                      </a:r>
                      <a:endParaRPr lang="en-US" err="1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09619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272B135-7428-90D9-8166-91B744789DF6}"/>
              </a:ext>
            </a:extLst>
          </p:cNvPr>
          <p:cNvSpPr txBox="1"/>
          <p:nvPr/>
        </p:nvSpPr>
        <p:spPr>
          <a:xfrm>
            <a:off x="369206" y="5485173"/>
            <a:ext cx="797077" cy="9848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100">
                <a:latin typeface="Malgun Gothic"/>
                <a:ea typeface="Malgun Gothic"/>
              </a:rPr>
              <a:t>서울시</a:t>
            </a:r>
            <a:r>
              <a:rPr lang="en-US" sz="1100">
                <a:latin typeface="Malgun Gothic"/>
                <a:ea typeface="Malgun Gothic"/>
              </a:rPr>
              <a:t> </a:t>
            </a:r>
            <a:r>
              <a:rPr lang="en-US" sz="1100" err="1">
                <a:latin typeface="Malgun Gothic"/>
                <a:ea typeface="Malgun Gothic"/>
              </a:rPr>
              <a:t>상권분석서비스</a:t>
            </a:r>
            <a:endParaRPr lang="en-US" sz="1100">
              <a:latin typeface="Malgun Gothic"/>
              <a:ea typeface="Malgun Gothic"/>
            </a:endParaRPr>
          </a:p>
          <a:p>
            <a:pPr algn="ctr"/>
            <a:r>
              <a:rPr lang="ko-KR" altLang="en-US" sz="1100">
                <a:latin typeface="Malgun Gothic"/>
                <a:ea typeface="Malgun Gothic"/>
              </a:rPr>
              <a:t> </a:t>
            </a:r>
            <a:r>
              <a:rPr lang="ko-KR" sz="1100">
                <a:latin typeface="Malgun Gothic"/>
                <a:ea typeface="Malgun Gothic"/>
              </a:rPr>
              <a:t>데이터</a:t>
            </a:r>
            <a:endParaRPr lang="en-US" altLang="ko-KR" sz="1100">
              <a:latin typeface="Malgun Gothic"/>
              <a:ea typeface="Malgun Gothic"/>
            </a:endParaRPr>
          </a:p>
          <a:p>
            <a:pPr algn="ctr"/>
            <a:endParaRPr lang="ko-Kore-KR" altLang="en-US" sz="1400">
              <a:ea typeface="맑은 고딕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73BFF53-D1B9-FD1C-4A4A-9923B7B6D06E}"/>
              </a:ext>
            </a:extLst>
          </p:cNvPr>
          <p:cNvGraphicFramePr>
            <a:graphicFrameLocks noGrp="1"/>
          </p:cNvGraphicFramePr>
          <p:nvPr/>
        </p:nvGraphicFramePr>
        <p:xfrm>
          <a:off x="1168400" y="4450014"/>
          <a:ext cx="6920585" cy="118872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205591">
                  <a:extLst>
                    <a:ext uri="{9D8B030D-6E8A-4147-A177-3AD203B41FA5}">
                      <a16:colId xmlns:a16="http://schemas.microsoft.com/office/drawing/2014/main" val="1705096540"/>
                    </a:ext>
                  </a:extLst>
                </a:gridCol>
                <a:gridCol w="952499">
                  <a:extLst>
                    <a:ext uri="{9D8B030D-6E8A-4147-A177-3AD203B41FA5}">
                      <a16:colId xmlns:a16="http://schemas.microsoft.com/office/drawing/2014/main" val="1306542410"/>
                    </a:ext>
                  </a:extLst>
                </a:gridCol>
                <a:gridCol w="952499">
                  <a:extLst>
                    <a:ext uri="{9D8B030D-6E8A-4147-A177-3AD203B41FA5}">
                      <a16:colId xmlns:a16="http://schemas.microsoft.com/office/drawing/2014/main" val="2385177672"/>
                    </a:ext>
                  </a:extLst>
                </a:gridCol>
                <a:gridCol w="952499">
                  <a:extLst>
                    <a:ext uri="{9D8B030D-6E8A-4147-A177-3AD203B41FA5}">
                      <a16:colId xmlns:a16="http://schemas.microsoft.com/office/drawing/2014/main" val="3734388377"/>
                    </a:ext>
                  </a:extLst>
                </a:gridCol>
                <a:gridCol w="952499">
                  <a:extLst>
                    <a:ext uri="{9D8B030D-6E8A-4147-A177-3AD203B41FA5}">
                      <a16:colId xmlns:a16="http://schemas.microsoft.com/office/drawing/2014/main" val="3464294256"/>
                    </a:ext>
                  </a:extLst>
                </a:gridCol>
                <a:gridCol w="952499">
                  <a:extLst>
                    <a:ext uri="{9D8B030D-6E8A-4147-A177-3AD203B41FA5}">
                      <a16:colId xmlns:a16="http://schemas.microsoft.com/office/drawing/2014/main" val="3263188970"/>
                    </a:ext>
                  </a:extLst>
                </a:gridCol>
                <a:gridCol w="952499">
                  <a:extLst>
                    <a:ext uri="{9D8B030D-6E8A-4147-A177-3AD203B41FA5}">
                      <a16:colId xmlns:a16="http://schemas.microsoft.com/office/drawing/2014/main" val="3913409435"/>
                    </a:ext>
                  </a:extLst>
                </a:gridCol>
              </a:tblGrid>
              <a:tr h="344465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ko-KR" altLang="en-US" sz="9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컬럼명</a:t>
                      </a:r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ko-KR" sz="9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개방자치단체코드</a:t>
                      </a:r>
                      <a:endParaRPr lang="en-US" altLang="ko-KR" sz="900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9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관리번호</a:t>
                      </a:r>
                      <a:endParaRPr lang="en-US" altLang="ko-KR" sz="900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인허가일자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영업상태명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폐업 일차</a:t>
                      </a:r>
                      <a:endParaRPr lang="en-US" altLang="ko-KR" sz="900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소재지면적</a:t>
                      </a:r>
                      <a:endParaRPr lang="en-US" altLang="ko-KR" sz="900"/>
                    </a:p>
                  </a:txBody>
                  <a:tcPr marL="38100" marR="38100" marT="38100" marB="38100">
                    <a:solidFill>
                      <a:srgbClr val="E9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36245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ko-KR" altLang="en-US" sz="9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예시</a:t>
                      </a:r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3000000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3000000-101-1996-07355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1996-04-26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폐업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2017-02-14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69.69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67981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ko-KR" altLang="en-US" sz="900" b="1" kern="120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가명처리 기법</a:t>
                      </a:r>
                      <a:endParaRPr lang="en-US" altLang="ko-KR" sz="900" b="1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ko-KR" altLang="en-US" sz="9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Keep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Hash</a:t>
                      </a:r>
                      <a:r>
                        <a:rPr lang="ko-KR" altLang="en-US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(SHA-256</a:t>
                      </a:r>
                      <a:r>
                        <a:rPr lang="ko-KR" altLang="en-US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+</a:t>
                      </a:r>
                      <a:r>
                        <a:rPr lang="ko-KR" altLang="en-US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salt)</a:t>
                      </a:r>
                      <a:endParaRPr lang="ko-KR" altLang="en-US" sz="900" b="0" i="0" u="none" strike="noStrike" kern="1200" noProof="0">
                        <a:solidFill>
                          <a:schemeClr val="dk1"/>
                        </a:solidFill>
                        <a:effectLst/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lvl="0" algn="ctr" defTabSz="914400">
                        <a:buNone/>
                      </a:pPr>
                      <a:endParaRPr lang="en-US" altLang="ko-KR" sz="9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Keep/Truncate to YYMM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1" hangingPunct="1">
                        <a:buNone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Keep</a:t>
                      </a:r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Malgun Gothic"/>
                          <a:ea typeface="Malgun Gothic"/>
                          <a:cs typeface="+mn-cs"/>
                        </a:rPr>
                        <a:t>Keep/Truncate to YYMM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900" b="0" i="0" u="none" strike="noStrike" kern="1200" noProof="0">
                          <a:solidFill>
                            <a:schemeClr val="dk1"/>
                          </a:solidFill>
                          <a:effectLst/>
                        </a:rPr>
                        <a:t>Bin into ranges</a:t>
                      </a:r>
                      <a:endParaRPr lang="en-US" sz="900"/>
                    </a:p>
                  </a:txBody>
                  <a:tcPr marL="38100" marR="38100" marT="38100" marB="381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09619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2806D46-B2F6-7221-4118-CA01F1F9C52D}"/>
              </a:ext>
            </a:extLst>
          </p:cNvPr>
          <p:cNvSpPr txBox="1"/>
          <p:nvPr/>
        </p:nvSpPr>
        <p:spPr>
          <a:xfrm>
            <a:off x="378883" y="4787481"/>
            <a:ext cx="797077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altLang="en-US" sz="1200">
                <a:latin typeface="Malgun Gothic"/>
                <a:ea typeface="Malgun Gothic"/>
              </a:rPr>
              <a:t>식품의약품안전처</a:t>
            </a:r>
            <a:r>
              <a:rPr lang="ko-KR" altLang="en-US" sz="1400" b="1">
                <a:latin typeface="Open Sans"/>
                <a:ea typeface="맑은 고딕"/>
                <a:cs typeface="Open Sans"/>
              </a:rPr>
              <a:t> </a:t>
            </a:r>
            <a:endParaRPr lang="en-US" altLang="en-US" sz="1400"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8642B-EEE9-19EF-4666-9CFC3CA3AECD}"/>
              </a:ext>
            </a:extLst>
          </p:cNvPr>
          <p:cNvSpPr txBox="1"/>
          <p:nvPr/>
        </p:nvSpPr>
        <p:spPr>
          <a:xfrm>
            <a:off x="5987446" y="1034600"/>
            <a:ext cx="58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https://data.seoul.go.kr/dataList/datasetTotalList.do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87392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F0427-EB7F-C772-F2D2-EE8DD04B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7350403-B1B1-D0E6-365E-3641E96CF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EA1E582-E1CC-4474-812F-1657BC5920B7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1" name="제목 3">
            <a:extLst>
              <a:ext uri="{FF2B5EF4-FFF2-40B4-BE49-F238E27FC236}">
                <a16:creationId xmlns:a16="http://schemas.microsoft.com/office/drawing/2014/main" id="{461D6AC5-3CF1-D176-94DF-29CAF3CD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21" y="217151"/>
            <a:ext cx="10666268" cy="407165"/>
          </a:xfrm>
        </p:spPr>
        <p:txBody>
          <a:bodyPr lIns="91440" tIns="45720" rIns="91440" bIns="45720" anchor="ctr" anchorCtr="0">
            <a:normAutofit fontScale="90000"/>
          </a:bodyPr>
          <a:lstStyle/>
          <a:p>
            <a:r>
              <a:rPr lang="ko-KR">
                <a:ea typeface="Pretendard Black"/>
              </a:rPr>
              <a:t>아이디어</a:t>
            </a:r>
            <a:r>
              <a:rPr lang="en-US">
                <a:ea typeface="Pretendard Black"/>
              </a:rPr>
              <a:t>(4/6)</a:t>
            </a:r>
            <a:r>
              <a:rPr lang="ko-KR">
                <a:ea typeface="Pretendard Black"/>
              </a:rPr>
              <a:t> </a:t>
            </a:r>
            <a:r>
              <a:rPr lang="en-US">
                <a:ea typeface="Pretendard Black"/>
              </a:rPr>
              <a:t>-</a:t>
            </a:r>
            <a:r>
              <a:rPr lang="ko-KR">
                <a:ea typeface="Pretendard Black"/>
              </a:rPr>
              <a:t> </a:t>
            </a:r>
            <a:r>
              <a:rPr lang="en-US">
                <a:ea typeface="Pretendard Black"/>
              </a:rPr>
              <a:t>Privacy-Preserving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Commercial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District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Early-Warning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AI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Framework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for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Small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Business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Recovery</a:t>
            </a:r>
            <a:r>
              <a:rPr lang="ko-KR" altLang="en-US">
                <a:ea typeface="Pretendard Black"/>
              </a:rPr>
              <a:t> </a:t>
            </a:r>
            <a:r>
              <a:rPr lang="en-US">
                <a:ea typeface="Pretendard Black"/>
              </a:rPr>
              <a:t>Support</a:t>
            </a:r>
            <a:endParaRPr lang="en-US" altLang="ko-KR"/>
          </a:p>
        </p:txBody>
      </p:sp>
      <p:sp>
        <p:nvSpPr>
          <p:cNvPr id="2" name="모서리가 둥근 직사각형 6">
            <a:extLst>
              <a:ext uri="{FF2B5EF4-FFF2-40B4-BE49-F238E27FC236}">
                <a16:creationId xmlns:a16="http://schemas.microsoft.com/office/drawing/2014/main" id="{3ED2F7CC-5623-63D9-AF39-A3478CF7598C}"/>
              </a:ext>
            </a:extLst>
          </p:cNvPr>
          <p:cNvSpPr/>
          <p:nvPr/>
        </p:nvSpPr>
        <p:spPr bwMode="auto">
          <a:xfrm>
            <a:off x="375254" y="1002652"/>
            <a:ext cx="11419721" cy="2426348"/>
          </a:xfrm>
          <a:prstGeom prst="roundRect">
            <a:avLst>
              <a:gd name="adj" fmla="val 0"/>
            </a:avLst>
          </a:prstGeom>
          <a:solidFill>
            <a:srgbClr val="E9EDF4"/>
          </a:solidFill>
          <a:ln w="9525">
            <a:noFill/>
            <a:miter lim="800000"/>
            <a:headEnd/>
            <a:tailEnd/>
          </a:ln>
          <a:effectLst/>
        </p:spPr>
        <p:txBody>
          <a:bodyPr wrap="square" rtlCol="0" anchor="t" anchorCtr="0"/>
          <a:lstStyle/>
          <a:p>
            <a:pPr eaLnBrk="0" latinLnBrk="0" hangingPunct="0">
              <a:lnSpc>
                <a:spcPct val="150000"/>
              </a:lnSpc>
              <a:spcBef>
                <a:spcPts val="1200"/>
              </a:spcBef>
            </a:pPr>
            <a:r>
              <a:rPr lang="ko-KR" altLang="en-US" sz="1400" b="1">
                <a:solidFill>
                  <a:srgbClr val="0000CC"/>
                </a:solidFill>
              </a:rPr>
              <a:t>■ </a:t>
            </a:r>
            <a:r>
              <a:rPr lang="ko-Kore-KR" altLang="en-US" sz="1400" b="1">
                <a:solidFill>
                  <a:srgbClr val="0000CC"/>
                </a:solidFill>
              </a:rPr>
              <a:t>활용</a:t>
            </a:r>
            <a:r>
              <a:rPr lang="ko-KR" altLang="en-US" sz="1400" b="1">
                <a:solidFill>
                  <a:srgbClr val="0000CC"/>
                </a:solidFill>
              </a:rPr>
              <a:t> 데이터</a:t>
            </a:r>
            <a:endParaRPr lang="en-US" altLang="ko-KR" sz="1400" b="1">
              <a:solidFill>
                <a:srgbClr val="0000CC"/>
              </a:solidFill>
            </a:endParaRPr>
          </a:p>
          <a:p>
            <a:pPr marL="285750" indent="-285750" eaLnBrk="0" latinLnBrk="0" hangingPunc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식품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_</a:t>
            </a: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일반음식점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.csv</a:t>
            </a:r>
          </a:p>
          <a:p>
            <a:pPr marL="285750" indent="-285750" eaLnBrk="0" latinLnBrk="0" hangingPunc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식품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_</a:t>
            </a: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휴게음식점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.csv</a:t>
            </a:r>
          </a:p>
          <a:p>
            <a:pPr marL="285750" indent="-285750" eaLnBrk="0" latinLnBrk="0" hangingPunc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서울시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 </a:t>
            </a: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상권분석서비스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(</a:t>
            </a: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추정매출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-</a:t>
            </a: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상권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)_[2021~2025].csv</a:t>
            </a:r>
          </a:p>
          <a:p>
            <a:pPr marL="285750" indent="-285750" eaLnBrk="0" latinLnBrk="0" hangingPunc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서울시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 </a:t>
            </a: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상권분석서비스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(</a:t>
            </a: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영역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-</a:t>
            </a:r>
            <a:r>
              <a:rPr lang="ko-KR" altLang="en-US" sz="1400" b="1">
                <a:solidFill>
                  <a:srgbClr val="0000CC"/>
                </a:solidFill>
                <a:latin typeface="Open Sans" panose="020B0606030504020204" pitchFamily="34" charset="0"/>
              </a:rPr>
              <a:t>상권</a:t>
            </a:r>
            <a:r>
              <a:rPr lang="en-US" altLang="ko-KR" sz="1400" b="1">
                <a:solidFill>
                  <a:srgbClr val="0000CC"/>
                </a:solidFill>
                <a:latin typeface="Open Sans" panose="020B0606030504020204" pitchFamily="34" charset="0"/>
              </a:rPr>
              <a:t>).csv</a:t>
            </a:r>
          </a:p>
        </p:txBody>
      </p:sp>
    </p:spTree>
    <p:extLst>
      <p:ext uri="{BB962C8B-B14F-4D97-AF65-F5344CB8AC3E}">
        <p14:creationId xmlns:p14="http://schemas.microsoft.com/office/powerpoint/2010/main" val="9277184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wnYXOXLUvR45dobOFO5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3161</TotalTime>
  <Words>547</Words>
  <Application>Microsoft Office PowerPoint</Application>
  <PresentationFormat>와이드스크린</PresentationFormat>
  <Paragraphs>105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4" baseType="lpstr">
      <vt:lpstr>HY견고딕</vt:lpstr>
      <vt:lpstr>HY헤드라인M</vt:lpstr>
      <vt:lpstr>Pretendard Black</vt:lpstr>
      <vt:lpstr>Malgun Gothic</vt:lpstr>
      <vt:lpstr>Malgun Gothic</vt:lpstr>
      <vt:lpstr>Aptos</vt:lpstr>
      <vt:lpstr>Aptos Display</vt:lpstr>
      <vt:lpstr>Arial</vt:lpstr>
      <vt:lpstr>Candara</vt:lpstr>
      <vt:lpstr>Open Sans</vt:lpstr>
      <vt:lpstr>Office Theme</vt:lpstr>
      <vt:lpstr>아이디어(4/6) - Privacy-Preserving Commercial District Early-Warning AI Framework for Small Business Recovery Support</vt:lpstr>
      <vt:lpstr>아이디어(4/6) - Privacy-Preserving Commercial District Early-Warning AI Framework for Small Business Recovery Support</vt:lpstr>
      <vt:lpstr>아이디어(4/6) - Privacy-Preserving Commercial District Early-Warning AI Framework for Small Business Recovery Support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Assem U</dc:creator>
  <cp:lastModifiedBy>전 재원</cp:lastModifiedBy>
  <cp:revision>3</cp:revision>
  <dcterms:created xsi:type="dcterms:W3CDTF">2026-07-03T04:30:12Z</dcterms:created>
  <dcterms:modified xsi:type="dcterms:W3CDTF">2026-07-11T11:39:12Z</dcterms:modified>
</cp:coreProperties>
</file>